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by 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Revenue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96D8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104000</c:v>
                </c:pt>
                <c:pt idx="1">
                  <c:v>74000</c:v>
                </c:pt>
                <c:pt idx="2">
                  <c:v>36000</c:v>
                </c:pt>
                <c:pt idx="3">
                  <c:v>19000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Strategic Recommendations for Stakeholders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4114800"/>
            <a:ext cx="7772400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3,900 Customers  |  18 Features  |  Retail Industry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Enhance Sales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purchasing triggers across categories and demographics.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972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Customer Satisfaction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review drivers, shipping preferences, and discount impact.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260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Long-term Loyalty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repeat buying behavior and grow subscription base.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92608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Targeted Marketing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high-value segments by age group, gender, and channel.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metrics from 3,900 customer transactions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965960" cy="3200400"/>
          </a:xfrm>
          <a:prstGeom prst="rect">
            <a:avLst/>
          </a:prstGeom>
          <a:solidFill>
            <a:srgbClr val="213A7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20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965960" cy="3200400"/>
          </a:xfrm>
          <a:prstGeom prst="rect">
            <a:avLst/>
          </a:prstGeom>
          <a:solidFill>
            <a:srgbClr val="213A7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280160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920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$59.76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42032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(USD)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280160"/>
            <a:ext cx="1965960" cy="3200400"/>
          </a:xfrm>
          <a:prstGeom prst="rect">
            <a:avLst/>
          </a:prstGeom>
          <a:solidFill>
            <a:srgbClr val="213A7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280160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20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90872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0872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/ 5.0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65960" cy="3200400"/>
          </a:xfrm>
          <a:prstGeom prst="rect">
            <a:avLst/>
          </a:prstGeom>
          <a:solidFill>
            <a:srgbClr val="213A7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280160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920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39712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39712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Insights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91440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Performance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92040" y="1463040"/>
            <a:ext cx="3931920" cy="4389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83480" y="15087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49240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0920" y="1508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 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1938528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19842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49240" y="1984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19842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 ⭐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2040" y="2414016"/>
            <a:ext cx="3931920" cy="4389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24597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49240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60920" y="24597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 ⭐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92040" y="2889504"/>
            <a:ext cx="3931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29352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49240" y="29352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60920" y="29352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 ⭐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92040" y="3364992"/>
            <a:ext cx="3931920" cy="438912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4107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49240" y="3410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60920" y="34107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 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Segments &amp; Loyalty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vs Non-Subscribers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37760" y="1554480"/>
            <a:ext cx="37490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7492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74920" y="19659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1,053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74920" y="2240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$59.49  |  Total: $62,645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0" y="3063240"/>
            <a:ext cx="374904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7492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74920" y="3474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2,847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74920" y="3749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$59.87  |  Total: $170,436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Repeat buyers: 2,518 non-subscribers vs 958 subscribers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 &amp; Shipping Behavior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Discount-Dependent Products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618488"/>
            <a:ext cx="12801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554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2167128"/>
            <a:ext cx="1254557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103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2715768"/>
            <a:ext cx="1254557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20240" y="3264408"/>
            <a:ext cx="122895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2004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3813048"/>
            <a:ext cx="120335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3749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Comparison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1737360"/>
            <a:ext cx="356616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1847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22402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Purchase: $60.48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108960"/>
            <a:ext cx="356616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32186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6118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Purchase: $58.46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Express shipping users spend ~$2 more on average — a prime upsell target.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972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25880" y="11155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premium tier with exclusive discounts and early access to boost the 27% subscriber base.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11480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60720" y="11155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Program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80% Loyal segment with points, VIP perks, and personalized offers to reduce churn.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114800" cy="1645920"/>
          </a:xfrm>
          <a:prstGeom prst="rect">
            <a:avLst/>
          </a:prstGeom>
          <a:solidFill>
            <a:srgbClr val="026B7A"/>
          </a:solidFill>
          <a:ln w="12700">
            <a:solidFill>
              <a:srgbClr val="026B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71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29900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top-rated Gloves, Sandals &amp; Boots prominently in campaigns. Leverage Clothing's $104K revenue lead.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880360"/>
            <a:ext cx="4114800" cy="1645920"/>
          </a:xfrm>
          <a:prstGeom prst="rect">
            <a:avLst/>
          </a:prstGeom>
          <a:solidFill>
            <a:srgbClr val="024F5A"/>
          </a:solidFill>
          <a:ln w="12700">
            <a:solidFill>
              <a:srgbClr val="024F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971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60720" y="299008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Young &amp; Middle-aged high-spend customers; upsell Express shipping as a premium option.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Retail Strategy Division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2026-05-22T18:21:50Z</dcterms:created>
  <dcterms:modified xsi:type="dcterms:W3CDTF">2026-05-22T18:21:50Z</dcterms:modified>
</cp:coreProperties>
</file>